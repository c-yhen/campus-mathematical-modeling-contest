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6" autoAdjust="0"/>
    <p:restoredTop sz="94660"/>
  </p:normalViewPr>
  <p:slideViewPr>
    <p:cSldViewPr snapToGrid="0">
      <p:cViewPr varScale="1">
        <p:scale>
          <a:sx n="96" d="100"/>
          <a:sy n="96" d="100"/>
        </p:scale>
        <p:origin x="47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E024-6E04-83DD-993C-CB0CAFD45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C4E978-9E18-5181-3E78-D83731CCB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614A7-6080-31D9-1AF1-BB7BE4EB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581FC-E519-0C4B-8117-6ACD4270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E43EF1-CB7D-53D4-2E02-065ECDF4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65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89199-3B52-A1C4-0C6A-61B4A21D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0EC08-D2CB-1152-BD72-2BF20289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0CD02-4238-3A44-02C0-940363A8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2CF16-74B1-EADC-0A1B-EB6AAF93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501A0-E98A-BDDE-532D-85AEAC93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8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F378D-86C1-8A23-E2AB-A99368574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738200-73EC-0B90-96F9-C9E21AE1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CEFF6-47F9-6F01-486A-E10ACEED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1A7BA9-0CA7-50E7-3791-7E5FA9A9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D510C-D102-01B8-F12A-BD2F402B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77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AA06D-9AA2-C7E7-A18D-385DD628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55FB4D-812E-BD3E-084A-71EC29782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17A46E-EF45-3E32-6C15-82843CB6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12BEB-79BA-3B90-3976-FB8DC089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EC5373-C596-6B1A-0A6E-5B59557D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E5A820-A633-8127-732C-69438DB1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27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85A8D-3CB6-1C22-ADBB-F1507FD1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DF149-78CA-7E93-D92A-C61C43A41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438ADC-69AC-9200-B555-A31640612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010238-BAF4-6569-3063-774F33BAA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D16AD0-C08A-B735-0096-8B62B722D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9DE6BF-6E7F-C8A6-505A-08935001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CF1CAD-4965-E85C-0F2C-E452EBFB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1000FA-9BF4-B6C3-967A-C573EBFF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78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C66ED-7A0A-07A4-DF5D-E8A6DA93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58B9B2-F237-3352-4D71-F8B739F6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C2E07E-A18B-DC8E-8B38-8DC229EA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3C137E-1F09-700F-B1C9-A4FED202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595F6F-DD5B-F083-20A7-BD1DB4A5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28A577-4C1F-7127-AE03-C3A5E9B1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2CB62-729B-4B31-FDE1-160C9445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03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FB43D-F7AE-AAF3-2DC1-4BBC3FE6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B1BC3-5776-6793-CC61-297DC3622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84E63D-DE8D-3C25-C079-D86A39D81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CC9BD5-D90C-95BF-E339-B8B0C23D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E90DCC-9F94-4561-DC0B-5187AF3E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4B830-70EB-A0B4-F306-A033281B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35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CEA93-6E34-7F27-ADBE-89BABA5D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4F9C2B-6E29-85D6-1523-859413DB1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507B55-56E5-3045-60A4-04BB2CC5D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F8F20D-2320-FEDD-081A-132E57E1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CBB7E-BCB8-515E-117B-48BA0A03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1672B9-BB3B-625A-B773-0B867E21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15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14187-A60C-9ECC-8D2B-B8F43B24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BF5F44-1052-A6C7-6D4E-A04885C2B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BE35A-7EBC-188B-4417-DB76B7CE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C3E7CE-C4C5-C655-E033-BB5CAAA9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C5C61-6168-0887-7E90-021458FE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50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F10583-FBB5-07AC-BCC4-0B37D8716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CC9ED2-04B6-194D-E62E-8C6B09DF3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6BB22A-58D4-575E-3319-EAB3EEFB0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CDC43-EF62-6927-D6F7-18B15846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3FB70-EB00-34F0-3FCB-F1093308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9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EC63F6-3AC3-7057-A9BC-64611455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2FB4F2-9ED9-BFB2-424E-7B0E68471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8F3BC3-EA92-9067-91C5-EB477BA3E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DC93A-96BE-4DD1-A348-1390E9468AB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49D5D-5A91-29F9-7B82-A6E8F81E6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B6CB7-5EA2-3928-A5C9-0B9F27965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2A27C-6EA2-42F1-9DA1-09DB91CDE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91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00438-424B-6812-FA1E-21A9F65D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332"/>
            <a:ext cx="10515600" cy="5551631"/>
          </a:xfrm>
        </p:spPr>
        <p:txBody>
          <a:bodyPr/>
          <a:lstStyle/>
          <a:p>
            <a:r>
              <a:rPr lang="zh-CN" altLang="en-US" b="1" dirty="0"/>
              <a:t>约束如下</a:t>
            </a:r>
            <a:endParaRPr lang="en-US" altLang="zh-CN" b="1" dirty="0"/>
          </a:p>
          <a:p>
            <a:pPr lvl="0"/>
            <a:r>
              <a:rPr lang="zh-CN" altLang="zh-CN" dirty="0"/>
              <a:t>每架无人机：基地 (0,0) 出发 → 按序列巡检若干点（I 级点要访问 3 次、II 级 2 次、III 级 1 次）→ 返回基地；</a:t>
            </a:r>
          </a:p>
          <a:p>
            <a:pPr lvl="0"/>
            <a:r>
              <a:rPr lang="zh-CN" altLang="zh-CN" dirty="0"/>
              <a:t>单点作业固定 5 分钟，飞行速度 55 km/h，无续航限制；</a:t>
            </a:r>
            <a:endParaRPr lang="en-US" altLang="zh-CN" dirty="0"/>
          </a:p>
          <a:p>
            <a:pPr lvl="0"/>
            <a:r>
              <a:rPr lang="en-US" altLang="zh-CN" dirty="0"/>
              <a:t>9</a:t>
            </a:r>
            <a:r>
              <a:rPr lang="zh-CN" altLang="en-US" dirty="0"/>
              <a:t>小时完成任务，并且</a:t>
            </a:r>
            <a:r>
              <a:rPr lang="en-US" altLang="zh-CN" dirty="0" err="1"/>
              <a:t>N_min</a:t>
            </a:r>
            <a:r>
              <a:rPr lang="zh-CN" altLang="en-US" dirty="0"/>
              <a:t>取整数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r>
              <a:rPr lang="zh-CN" altLang="zh-CN" dirty="0"/>
              <a:t>三问目标依次升级：</a:t>
            </a:r>
            <a:r>
              <a:rPr lang="zh-CN" altLang="zh-CN" b="1" dirty="0"/>
              <a:t>最少架数 + 最快完成 → 负载均衡 → 动态禁飞区下的时空规划</a:t>
            </a:r>
            <a:r>
              <a:rPr lang="zh-CN" altLang="zh-CN" dirty="0"/>
              <a:t>。</a:t>
            </a:r>
          </a:p>
          <a:p>
            <a:pPr lvl="0"/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326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CBF98-EF5A-21FA-C49F-E89C9ADD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494"/>
            <a:ext cx="10515600" cy="7231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Pb1</a:t>
            </a:r>
            <a:r>
              <a:rPr lang="zh-CN" altLang="en-US" dirty="0"/>
              <a:t>：</a:t>
            </a:r>
            <a:r>
              <a:rPr lang="zh-CN" altLang="zh-CN" b="1" dirty="0"/>
              <a:t>最少架数 + 最短总完成时间</a:t>
            </a:r>
            <a:br>
              <a:rPr lang="zh-CN" altLang="zh-CN" b="1" dirty="0"/>
            </a:b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563467-EEAA-9F6B-600B-5CFA610C5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总工作时长</a:t>
                </a:r>
                <a:endParaRPr lang="en-US" altLang="zh-CN" dirty="0"/>
              </a:p>
              <a:p>
                <a:r>
                  <a:rPr lang="zh-CN" altLang="zh-CN" dirty="0"/>
                  <a:t>这是一个"可行性判定"问题：给定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zh-CN" dirty="0"/>
                  <a:t> 架，能否在 9 h 内完成全部巡检？</a:t>
                </a:r>
              </a:p>
              <a:p>
                <a:pPr lvl="0"/>
                <a:r>
                  <a:rPr lang="zh-CN" altLang="zh-CN" b="1" dirty="0"/>
                  <a:t>决策变量</a:t>
                </a:r>
                <a:r>
                  <a:rPr lang="zh-CN" altLang="zh-CN" dirty="0"/>
                  <a:t>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zh-CN" dirty="0"/>
                  <a:t> 架无人机各自的巡检点访问序列；</a:t>
                </a:r>
              </a:p>
              <a:p>
                <a:pPr lvl="0"/>
                <a:r>
                  <a:rPr lang="zh-CN" altLang="zh-CN" sz="975" b="1" dirty="0"/>
                  <a:t>目标</a:t>
                </a:r>
                <a:r>
                  <a:rPr lang="zh-CN" altLang="zh-CN" sz="975" dirty="0"/>
                  <a:t>：使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/>
                      <m:t>max</m:t>
                    </m:r>
                    <m:r>
                      <a:rPr lang="zh-CN" altLang="en-US"/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zh-CN" altLang="en-US" i="1"/>
                        </m:ctrlPr>
                      </m:dPr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𝑇</m:t>
                            </m:r>
                          </m:e>
                          <m:sub>
                            <m:r>
                              <a:rPr lang="en-US" altLang="zh-CN"/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zh-CN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𝑇</m:t>
                            </m:r>
                          </m:e>
                          <m:sub>
                            <m:r>
                              <a:rPr lang="zh-CN" altLang="en-US" i="1"/>
                              <m:t>𝑁</m:t>
                            </m:r>
                          </m:sub>
                        </m:sSub>
                      </m:e>
                    </m:d>
                    <m:r>
                      <a:rPr lang="zh-CN" altLang="en-US"/>
                      <m:t>≤</m:t>
                    </m:r>
                    <m:r>
                      <a:rPr lang="en-US" altLang="zh-CN"/>
                      <m:t>9</m:t>
                    </m:r>
                  </m:oMath>
                </a14:m>
                <a:r>
                  <a:rPr lang="zh-CN" altLang="zh-CN" sz="975" dirty="0"/>
                  <a:t> h 的 </a:t>
                </a:r>
                <a14:m>
                  <m:oMath xmlns:m="http://schemas.openxmlformats.org/officeDocument/2006/math">
                    <m:r>
                      <a:rPr lang="zh-CN" altLang="en-US" i="1"/>
                      <m:t>𝑁</m:t>
                    </m:r>
                  </m:oMath>
                </a14:m>
                <a:r>
                  <a:rPr lang="zh-CN" altLang="zh-CN" sz="975" dirty="0"/>
                  <a:t> 最小，即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𝑁</m:t>
                        </m:r>
                      </m:e>
                      <m:sub>
                        <m:r>
                          <a:rPr lang="zh-CN" altLang="en-US" i="1"/>
                          <m:t>𝑚𝑖𝑛</m:t>
                        </m:r>
                      </m:sub>
                    </m:sSub>
                    <m:r>
                      <a:rPr lang="en-US" altLang="zh-CN"/>
                      <m:t>=</m:t>
                    </m:r>
                    <m:r>
                      <m:rPr>
                        <m:sty m:val="p"/>
                      </m:rPr>
                      <a:rPr lang="en-US" altLang="zh-CN"/>
                      <m:t>min</m:t>
                    </m:r>
                    <m:r>
                      <a:rPr lang="en-US" altLang="zh-CN"/>
                      <m:t>⁡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𝑁</m:t>
                        </m:r>
                        <m:r>
                          <a:rPr lang="en-US" altLang="zh-CN"/>
                          <m:t>:</m:t>
                        </m:r>
                        <m:r>
                          <m:rPr>
                            <m:nor/>
                          </m:rPr>
                          <a:rPr lang="zh-CN" altLang="en-US"/>
                          <m:t>存在可行调度</m:t>
                        </m:r>
                      </m:e>
                    </m:d>
                  </m:oMath>
                </a14:m>
                <a:r>
                  <a:rPr lang="zh-CN" altLang="zh-CN" sz="975" dirty="0"/>
                  <a:t>；</a:t>
                </a:r>
              </a:p>
              <a:p>
                <a:pPr lvl="0"/>
                <a:r>
                  <a:rPr lang="zh-CN" altLang="zh-CN" b="1" dirty="0"/>
                  <a:t>求解路线</a:t>
                </a:r>
                <a:r>
                  <a:rPr lang="zh-CN" altLang="zh-CN" dirty="0"/>
                  <a:t>：</a:t>
                </a:r>
              </a:p>
              <a:p>
                <a:pPr lvl="1"/>
                <a:r>
                  <a:rPr lang="zh-CN" altLang="zh-CN" dirty="0"/>
                  <a:t>先算</a:t>
                </a:r>
                <a:r>
                  <a:rPr lang="zh-CN" altLang="zh-CN" b="1" dirty="0"/>
                  <a:t>理论下界</a:t>
                </a:r>
                <a:r>
                  <a:rPr lang="zh-CN" altLang="zh-CN" dirty="0"/>
                  <a:t>（证明"少于这个数一定不行"）：</a:t>
                </a:r>
              </a:p>
              <a:p>
                <a:pPr lvl="2"/>
                <a:r>
                  <a:rPr lang="zh-CN" altLang="zh-CN" dirty="0"/>
                  <a:t>作业界</a:t>
                </a:r>
                <a:r>
                  <a:rPr lang="zh-CN" altLang="zh-CN" sz="2100" dirty="0"/>
                  <a:t>：</a:t>
                </a:r>
                <a14:m>
                  <m:oMath xmlns:m="http://schemas.openxmlformats.org/officeDocument/2006/math">
                    <m:r>
                      <a:rPr lang="zh-CN" altLang="en-US" sz="2100"/>
                      <m:t>𝑁</m:t>
                    </m:r>
                    <m:r>
                      <a:rPr lang="zh-CN" altLang="en-US" sz="2100"/>
                      <m:t>≥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100"/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100"/>
                          <m:t>总作业时间</m:t>
                        </m:r>
                        <m:r>
                          <a:rPr lang="en-US" altLang="zh-CN" sz="2100"/>
                          <m:t>/9</m:t>
                        </m:r>
                      </m:e>
                    </m:d>
                  </m:oMath>
                </a14:m>
                <a:r>
                  <a:rPr lang="zh-CN" altLang="zh-CN" dirty="0"/>
                  <a:t>（总作业时间 = 5 min × 总访问次数）；</a:t>
                </a:r>
              </a:p>
              <a:p>
                <a:pPr lvl="2"/>
                <a:r>
                  <a:rPr lang="zh-CN" altLang="zh-CN" dirty="0"/>
                  <a:t>移动界：</a:t>
                </a:r>
                <a14:m>
                  <m:oMath xmlns:m="http://schemas.openxmlformats.org/officeDocument/2006/math">
                    <m:r>
                      <a:rPr lang="zh-CN" altLang="en-US"/>
                      <m:t>𝑁</m:t>
                    </m:r>
                    <m:r>
                      <a:rPr lang="zh-CN" altLang="en-US"/>
                      <m:t>≥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/>
                        </m:ctrlPr>
                      </m:dPr>
                      <m:e>
                        <m:d>
                          <m:dPr>
                            <m:ctrlPr>
                              <a:rPr lang="zh-CN" altLang="en-US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zh-CN" altLang="en-US"/>
                              <m:t>总作业时间</m:t>
                            </m:r>
                            <m:r>
                              <a:rPr lang="en-US" altLang="zh-CN"/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CN"/>
                              <m:t>MST</m:t>
                            </m:r>
                            <m:r>
                              <m:rPr>
                                <m:nor/>
                              </m:rPr>
                              <a:rPr lang="zh-CN" altLang="en-US"/>
                              <m:t>移动下界</m:t>
                            </m:r>
                          </m:e>
                        </m:d>
                        <m:r>
                          <a:rPr lang="en-US" altLang="zh-CN"/>
                          <m:t>/9</m:t>
                        </m:r>
                      </m:e>
                    </m:d>
                  </m:oMath>
                </a14:m>
                <a:r>
                  <a:rPr lang="zh-CN" altLang="zh-CN" sz="975" dirty="0"/>
                  <a:t>；</a:t>
                </a:r>
              </a:p>
              <a:p>
                <a:pPr lvl="2"/>
                <a:r>
                  <a:rPr lang="zh-CN" altLang="zh-CN" dirty="0"/>
                  <a:t>远点界：超远点（如 Case1 的 175.7 km 点）往返一次就要 6.4 h，必须为它留出独立机时；</a:t>
                </a:r>
                <a:endParaRPr lang="en-US" altLang="zh-CN" dirty="0"/>
              </a:p>
              <a:p>
                <a:pPr lvl="2"/>
                <a:endParaRPr lang="zh-CN" altLang="zh-CN" dirty="0"/>
              </a:p>
              <a:p>
                <a:pPr lvl="1"/>
                <a:r>
                  <a:rPr lang="zh-CN" altLang="zh-CN" dirty="0"/>
                  <a:t>从下界值开始，用启发式算法逐次尝试 </a:t>
                </a:r>
                <a14:m>
                  <m:oMath xmlns:m="http://schemas.openxmlformats.org/officeDocument/2006/math">
                    <m:r>
                      <a:rPr lang="zh-CN" altLang="en-US"/>
                      <m:t>𝑁</m:t>
                    </m:r>
                    <m:r>
                      <a:rPr lang="en-US" altLang="zh-CN"/>
                      <m:t>=</m:t>
                    </m:r>
                  </m:oMath>
                </a14:m>
                <a:r>
                  <a:rPr lang="zh-CN" altLang="zh-CN" dirty="0"/>
                  <a:t>下界、下界+1、…，找到第一个能构造出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𝑚𝑎𝑥</m:t>
                        </m:r>
                      </m:sub>
                    </m:sSub>
                    <m:r>
                      <a:rPr lang="zh-CN" altLang="en-US"/>
                      <m:t>≤</m:t>
                    </m:r>
                    <m:r>
                      <a:rPr lang="en-US" altLang="zh-CN"/>
                      <m:t>9</m:t>
                    </m:r>
                  </m:oMath>
                </a14:m>
                <a:r>
                  <a:rPr lang="zh-CN" altLang="zh-CN" dirty="0"/>
                  <a:t> h 方案的 </a:t>
                </a:r>
                <a14:m>
                  <m:oMath xmlns:m="http://schemas.openxmlformats.org/officeDocument/2006/math">
                    <m:r>
                      <a:rPr lang="zh-CN" altLang="en-US"/>
                      <m:t>𝑁</m:t>
                    </m:r>
                  </m:oMath>
                </a14:m>
                <a:r>
                  <a:rPr lang="zh-CN" altLang="zh-CN" dirty="0"/>
                  <a:t>，即为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𝑁</m:t>
                        </m:r>
                      </m:e>
                      <m:sub>
                        <m:r>
                          <a:rPr lang="zh-CN" altLang="en-US"/>
                          <m:t>𝑚𝑖𝑛</m:t>
                        </m:r>
                      </m:sub>
                    </m:sSub>
                  </m:oMath>
                </a14:m>
                <a:r>
                  <a:rPr lang="zh-CN" altLang="zh-CN" dirty="0"/>
                  <a:t>；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563467-EEAA-9F6B-600B-5CFA610C5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5614AAFA-D47B-6042-CD3B-102DDDE16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898" y="1383933"/>
            <a:ext cx="6251904" cy="7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4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49A22-2FB3-89EE-FD63-F09F7C27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2DE4B5-F44C-D09F-A375-3823FC2EC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 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𝑁</m:t>
                        </m:r>
                      </m:e>
                      <m:sub>
                        <m:r>
                          <a:rPr lang="zh-CN" altLang="en-US"/>
                          <m:t>𝑚𝑖𝑛</m:t>
                        </m:r>
                      </m:sub>
                    </m:sSub>
                  </m:oMath>
                </a14:m>
                <a:r>
                  <a:rPr lang="zh-CN" altLang="zh-CN" dirty="0"/>
                  <a:t> 架机使总完成时间最短</a:t>
                </a:r>
              </a:p>
              <a:p>
                <a:pPr lvl="0"/>
                <a:r>
                  <a:rPr lang="zh-CN" altLang="zh-CN" dirty="0"/>
                  <a:t>目标：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/>
                      <m:t>min</m:t>
                    </m:r>
                    <m:r>
                      <m:rPr>
                        <m:nor/>
                      </m:rPr>
                      <a:rPr lang="zh-CN" altLang="en-US"/>
                      <m:t> </m:t>
                    </m:r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𝑚𝑎𝑥</m:t>
                        </m:r>
                      </m:sub>
                    </m:sSub>
                    <m:r>
                      <a:rPr lang="en-US" altLang="zh-CN"/>
                      <m:t>=</m:t>
                    </m:r>
                    <m:sSub>
                      <m:sSubPr>
                        <m:ctrlPr>
                          <a:rPr lang="en-US" altLang="zh-CN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/>
                          <m:t>max</m:t>
                        </m:r>
                      </m:e>
                      <m:sub>
                        <m:r>
                          <a:rPr lang="zh-CN" altLang="en-US"/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𝑗</m:t>
                        </m:r>
                      </m:sub>
                    </m:sSub>
                  </m:oMath>
                </a14:m>
                <a:r>
                  <a:rPr lang="zh-CN" altLang="zh-CN" dirty="0"/>
                  <a:t>，其中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𝑗</m:t>
                        </m:r>
                      </m:sub>
                    </m:sSub>
                    <m:r>
                      <a:rPr lang="en-US" altLang="zh-CN"/>
                      <m:t>=</m:t>
                    </m:r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/>
                          <m:t>飞行时间</m:t>
                        </m:r>
                      </m:e>
                      <m:sub>
                        <m:r>
                          <a:rPr lang="zh-CN" altLang="en-US"/>
                          <m:t>𝑗</m:t>
                        </m:r>
                      </m:sub>
                    </m:sSub>
                    <m:r>
                      <a:rPr lang="en-US" altLang="zh-CN"/>
                      <m:t>+5</m:t>
                    </m:r>
                    <m:func>
                      <m:funcPr>
                        <m:ctrlPr>
                          <a:rPr lang="en-US" altLang="zh-CN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/>
                          <m:t>min</m:t>
                        </m:r>
                      </m:fName>
                      <m:e>
                        <m:r>
                          <a:rPr lang="en-US" altLang="zh-CN"/>
                          <m:t>×</m:t>
                        </m:r>
                      </m:e>
                    </m:func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𝑚</m:t>
                        </m:r>
                      </m:e>
                      <m:sub>
                        <m:r>
                          <a:rPr lang="zh-CN" altLang="en-US"/>
                          <m:t>𝑗</m:t>
                        </m:r>
                      </m:sub>
                    </m:sSub>
                  </m:oMath>
                </a14:m>
                <a:r>
                  <a:rPr lang="zh-CN" altLang="zh-CN" dirty="0"/>
                  <a:t>；</a:t>
                </a:r>
              </a:p>
              <a:p>
                <a:pPr lvl="0"/>
                <a:r>
                  <a:rPr lang="zh-CN" altLang="zh-CN" dirty="0"/>
                  <a:t>求解路线：把 I/II 级点按次数拆成副本（同一点出现 2~3 次），转化为标准 min-max </a:t>
                </a:r>
                <a:r>
                  <a:rPr lang="zh-CN" altLang="en-US" dirty="0"/>
                  <a:t>路径规划</a:t>
                </a:r>
                <a:r>
                  <a:rPr lang="zh-CN" altLang="zh-CN" dirty="0"/>
                  <a:t>，用构造初始解（扇区分割 + 最近邻）→ 遗传算法 → 2-opt/交换局部搜索三层求解；</a:t>
                </a:r>
              </a:p>
              <a:p>
                <a:r>
                  <a:rPr lang="zh-CN" altLang="zh-CN" dirty="0"/>
                  <a:t>注意：</a:t>
                </a:r>
                <a:endParaRPr lang="en-US" altLang="zh-CN" dirty="0"/>
              </a:p>
              <a:p>
                <a:r>
                  <a:rPr lang="zh-CN" altLang="zh-CN" dirty="0">
                    <a:effectLst/>
                  </a:rPr>
                  <a:t>如果两个无人机同时到达同一任务点，算作两次巡检</a:t>
                </a:r>
              </a:p>
              <a:p>
                <a:r>
                  <a:rPr lang="zh-CN" altLang="zh-CN" dirty="0">
                    <a:effectLst/>
                  </a:rPr>
                  <a:t>如果一次执行任务是5分钟，同一架无人机在某一个任务点停留再多时间也是算作一次巡检</a:t>
                </a:r>
              </a:p>
              <a:p>
                <a:pPr lvl="0"/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2DE4B5-F44C-D09F-A375-3823FC2EC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36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89263-A217-531D-519A-1136C2BF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Pb2</a:t>
            </a:r>
            <a:r>
              <a:rPr lang="zh-CN" altLang="en-US" dirty="0"/>
              <a:t>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DCC08C-CF68-0D8D-CA02-868E8BB84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2247"/>
                <a:ext cx="10515600" cy="4094715"/>
              </a:xfrm>
            </p:spPr>
            <p:txBody>
              <a:bodyPr>
                <a:normAutofit fontScale="85000" lnSpcReduction="10000"/>
              </a:bodyPr>
              <a:lstStyle/>
              <a:p>
                <a:pPr lvl="0"/>
                <a:r>
                  <a:rPr lang="zh-CN" altLang="zh-CN" dirty="0"/>
                  <a:t>双目标冲突：一味均衡可能让总完成时间变差（大家都"齐头并进"往往不是最快的），所以要</a:t>
                </a:r>
                <a:r>
                  <a:rPr lang="zh-CN" altLang="zh-CN" b="1" dirty="0"/>
                  <a:t>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𝑚𝑎𝑥</m:t>
                        </m:r>
                      </m:sub>
                    </m:sSub>
                  </m:oMath>
                </a14:m>
                <a:r>
                  <a:rPr lang="zh-CN" altLang="zh-CN" dirty="0"/>
                  <a:t> 不劣化（或轻微放宽）的前提下最小化 </a:t>
                </a:r>
                <a14:m>
                  <m:oMath xmlns:m="http://schemas.openxmlformats.org/officeDocument/2006/math">
                    <m:r>
                      <a:rPr lang="zh-CN" altLang="en-US"/>
                      <m:t>𝛿</m:t>
                    </m:r>
                  </m:oMath>
                </a14:m>
                <a:r>
                  <a:rPr lang="zh-CN" altLang="zh-CN" dirty="0"/>
                  <a:t>；</a:t>
                </a:r>
              </a:p>
              <a:p>
                <a:pPr lvl="0"/>
                <a:r>
                  <a:rPr lang="zh-CN" altLang="zh-CN" dirty="0"/>
                  <a:t>推荐建模——分层优化：</a:t>
                </a:r>
                <a:endParaRPr lang="en-US" altLang="zh-CN" dirty="0"/>
              </a:p>
              <a:p>
                <a:pPr lvl="0"/>
                <a:r>
                  <a:rPr lang="zh-CN" altLang="en-US" dirty="0"/>
                  <a:t>总前提：飞机总架数不能变（可以放在上一题的遗传约束中）</a:t>
                </a:r>
                <a:endParaRPr lang="zh-CN" altLang="zh-CN" dirty="0"/>
              </a:p>
              <a:p>
                <a:pPr lvl="1"/>
                <a:r>
                  <a:rPr lang="zh-CN" altLang="zh-CN" sz="2800" dirty="0"/>
                  <a:t>第一层：先求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/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zh-CN" altLang="en-US" sz="2800"/>
                            </m:ctrlPr>
                          </m:sSubPr>
                          <m:e>
                            <m:r>
                              <a:rPr lang="zh-CN" altLang="en-US" sz="2800"/>
                              <m:t>𝑇</m:t>
                            </m:r>
                          </m:e>
                          <m:sub>
                            <m:r>
                              <a:rPr lang="zh-CN" altLang="en-US" sz="2800"/>
                              <m:t>𝑚𝑎𝑥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zh-CN" sz="2800" dirty="0"/>
                  <a:t>（问题 1 的解，记为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800"/>
                        </m:ctrlPr>
                      </m:sSubSupPr>
                      <m:e>
                        <m:r>
                          <a:rPr lang="zh-CN" altLang="en-US" sz="2800"/>
                          <m:t>𝑇</m:t>
                        </m:r>
                      </m:e>
                      <m:sub>
                        <m:r>
                          <a:rPr lang="zh-CN" altLang="en-US" sz="2800"/>
                          <m:t>𝑚𝑎𝑥</m:t>
                        </m:r>
                      </m:sub>
                      <m:sup>
                        <m:r>
                          <a:rPr lang="zh-CN" altLang="en-US" sz="2800"/>
                          <m:t>∗</m:t>
                        </m:r>
                      </m:sup>
                    </m:sSubSup>
                  </m:oMath>
                </a14:m>
                <a:r>
                  <a:rPr lang="zh-CN" altLang="zh-CN" sz="2800" dirty="0"/>
                  <a:t>）；</a:t>
                </a:r>
              </a:p>
              <a:p>
                <a:pPr lvl="1"/>
                <a:r>
                  <a:rPr lang="zh-CN" altLang="zh-CN" sz="2800" dirty="0"/>
                  <a:t>第二层：在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/>
                        </m:ctrlPr>
                      </m:sSubPr>
                      <m:e>
                        <m:r>
                          <a:rPr lang="zh-CN" altLang="en-US" sz="2800"/>
                          <m:t>𝑇</m:t>
                        </m:r>
                      </m:e>
                      <m:sub>
                        <m:r>
                          <a:rPr lang="zh-CN" altLang="en-US" sz="2800"/>
                          <m:t>𝑚𝑎𝑥</m:t>
                        </m:r>
                      </m:sub>
                    </m:sSub>
                    <m:r>
                      <a:rPr lang="zh-CN" altLang="en-US" sz="2800"/>
                      <m:t>≤</m:t>
                    </m:r>
                    <m:sSubSup>
                      <m:sSubSupPr>
                        <m:ctrlPr>
                          <a:rPr lang="zh-CN" altLang="en-US" sz="2800"/>
                        </m:ctrlPr>
                      </m:sSubSupPr>
                      <m:e>
                        <m:r>
                          <a:rPr lang="zh-CN" altLang="en-US" sz="2800"/>
                          <m:t>𝑇</m:t>
                        </m:r>
                      </m:e>
                      <m:sub>
                        <m:r>
                          <a:rPr lang="zh-CN" altLang="en-US" sz="2800"/>
                          <m:t>𝑚𝑎𝑥</m:t>
                        </m:r>
                      </m:sub>
                      <m:sup>
                        <m:r>
                          <a:rPr lang="zh-CN" altLang="en-US" sz="2800"/>
                          <m:t>∗</m:t>
                        </m:r>
                      </m:sup>
                    </m:sSubSup>
                    <m:r>
                      <a:rPr lang="en-US" altLang="zh-CN" sz="2800"/>
                      <m:t>+</m:t>
                    </m:r>
                    <m:r>
                      <a:rPr lang="zh-CN" altLang="en-US" sz="2800"/>
                      <m:t>𝜀</m:t>
                    </m:r>
                  </m:oMath>
                </a14:m>
                <a:r>
                  <a:rPr lang="zh-CN" altLang="zh-CN" sz="2800" dirty="0"/>
                  <a:t>（</a:t>
                </a:r>
                <a14:m>
                  <m:oMath xmlns:m="http://schemas.openxmlformats.org/officeDocument/2006/math">
                    <m:r>
                      <a:rPr lang="zh-CN" altLang="en-US" sz="2800"/>
                      <m:t>𝜀</m:t>
                    </m:r>
                  </m:oMath>
                </a14:m>
                <a:r>
                  <a:rPr lang="zh-CN" altLang="zh-CN" sz="2800" dirty="0"/>
                  <a:t> 取 0 或 1%~2% 容差）约束下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/>
                      <m:t>min</m:t>
                    </m:r>
                    <m:r>
                      <m:rPr>
                        <m:nor/>
                      </m:rPr>
                      <a:rPr lang="zh-CN" altLang="en-US" sz="2800"/>
                      <m:t> </m:t>
                    </m:r>
                    <m:r>
                      <a:rPr lang="zh-CN" altLang="en-US" sz="2800"/>
                      <m:t>𝛿</m:t>
                    </m:r>
                  </m:oMath>
                </a14:m>
                <a:r>
                  <a:rPr lang="zh-CN" altLang="zh-CN" sz="2800" dirty="0"/>
                  <a:t>；</a:t>
                </a:r>
              </a:p>
              <a:p>
                <a:pPr lvl="0"/>
                <a:r>
                  <a:rPr lang="zh-CN" altLang="zh-CN" dirty="0"/>
                  <a:t>求解要点：在遗传算法中把适应度改为"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𝑚𝑎𝑥</m:t>
                        </m:r>
                      </m:sub>
                    </m:sSub>
                  </m:oMath>
                </a14:m>
                <a:r>
                  <a:rPr lang="zh-CN" altLang="zh-CN" dirty="0"/>
                  <a:t> 主项 + </a:t>
                </a:r>
                <a14:m>
                  <m:oMath xmlns:m="http://schemas.openxmlformats.org/officeDocument/2006/math">
                    <m:r>
                      <a:rPr lang="zh-CN" altLang="en-US"/>
                      <m:t>𝛿</m:t>
                    </m:r>
                  </m:oMath>
                </a14:m>
                <a:r>
                  <a:rPr lang="zh-CN" altLang="zh-CN" dirty="0"/>
                  <a:t> 次项"，或先跑问题 1，再把"从最忙的机搬一个点给最闲的机"作为局部搜索算子反复执行（relocate 平衡算子），直到 </a:t>
                </a:r>
                <a14:m>
                  <m:oMath xmlns:m="http://schemas.openxmlformats.org/officeDocument/2006/math">
                    <m:r>
                      <a:rPr lang="zh-CN" altLang="en-US"/>
                      <m:t>𝛿</m:t>
                    </m:r>
                  </m:oMath>
                </a14:m>
                <a:r>
                  <a:rPr lang="zh-CN" altLang="zh-CN" dirty="0"/>
                  <a:t> 无法再降；</a:t>
                </a:r>
              </a:p>
              <a:p>
                <a:pPr lvl="0"/>
                <a:r>
                  <a:rPr lang="zh-CN" altLang="zh-CN" dirty="0"/>
                  <a:t>分析亮点：画出"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/>
                          <m:t>𝑇</m:t>
                        </m:r>
                      </m:e>
                      <m:sub>
                        <m:r>
                          <a:rPr lang="zh-CN" altLang="en-US"/>
                          <m:t>𝑚𝑎𝑥</m:t>
                        </m:r>
                      </m:sub>
                    </m:sSub>
                  </m:oMath>
                </a14:m>
                <a:r>
                  <a:rPr lang="zh-CN" altLang="zh-CN" dirty="0"/>
                  <a:t>-</a:t>
                </a:r>
                <a14:m>
                  <m:oMath xmlns:m="http://schemas.openxmlformats.org/officeDocument/2006/math">
                    <m:r>
                      <a:rPr lang="zh-CN" altLang="en-US"/>
                      <m:t>𝛿</m:t>
                    </m:r>
                  </m:oMath>
                </a14:m>
                <a:r>
                  <a:rPr lang="zh-CN" altLang="zh-CN" dirty="0"/>
                  <a:t>"权衡曲线，讨论"均衡的代价"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DCC08C-CF68-0D8D-CA02-868E8BB84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2247"/>
                <a:ext cx="10515600" cy="4094715"/>
              </a:xfrm>
              <a:blipFill>
                <a:blip r:embed="rId2"/>
                <a:stretch>
                  <a:fillRect l="-812" t="-2683" r="-3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854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29F50-05D2-F215-E8C6-DC3C708E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05" y="1058517"/>
            <a:ext cx="10515600" cy="36277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Pb3</a:t>
            </a:r>
            <a:r>
              <a:rPr lang="zh-CN" altLang="en-US" dirty="0"/>
              <a:t>：</a:t>
            </a:r>
            <a:r>
              <a:rPr lang="zh-CN" altLang="zh-CN" dirty="0"/>
              <a:t>动态禁飞区下的路径规划</a:t>
            </a:r>
            <a:br>
              <a:rPr lang="zh-CN" altLang="zh-CN" b="1" dirty="0"/>
            </a:b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CA99FD-42C8-5D31-E88B-047EBC54FA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1722"/>
                <a:ext cx="10515600" cy="482524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zh-CN" sz="1900" b="1" dirty="0"/>
                  <a:t>任务</a:t>
                </a:r>
                <a:r>
                  <a:rPr lang="zh-CN" altLang="zh-CN" sz="1900" dirty="0"/>
                  <a:t>：</a:t>
                </a:r>
                <a:r>
                  <a:rPr lang="zh-CN" altLang="en-US" sz="1900" dirty="0"/>
                  <a:t>特定时间禁飞区实现 时间短以及负载均衡</a:t>
                </a:r>
                <a:endParaRPr lang="en-US" altLang="zh-CN" sz="1900" dirty="0"/>
              </a:p>
              <a:p>
                <a:r>
                  <a:rPr lang="zh-CN" altLang="zh-CN" sz="1900" dirty="0"/>
                  <a:t>三个关键子问题：</a:t>
                </a:r>
              </a:p>
              <a:p>
                <a:pPr lvl="0"/>
                <a:r>
                  <a:rPr lang="zh-CN" altLang="zh-CN" sz="1900" dirty="0"/>
                  <a:t>几何冲突检测：某航段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900"/>
                        </m:ctrlPr>
                      </m:sSubPr>
                      <m:e>
                        <m:r>
                          <a:rPr lang="zh-CN" altLang="en-US" sz="1900"/>
                          <m:t>𝑃</m:t>
                        </m:r>
                      </m:e>
                      <m:sub>
                        <m:r>
                          <a:rPr lang="en-US" altLang="zh-CN" sz="1900"/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sz="1900"/>
                        </m:ctrlPr>
                      </m:sSubPr>
                      <m:e>
                        <m:r>
                          <a:rPr lang="zh-CN" altLang="en-US" sz="1900"/>
                          <m:t>𝑃</m:t>
                        </m:r>
                      </m:e>
                      <m:sub>
                        <m:r>
                          <a:rPr lang="en-US" altLang="zh-CN" sz="1900"/>
                          <m:t>2</m:t>
                        </m:r>
                      </m:sub>
                    </m:sSub>
                  </m:oMath>
                </a14:m>
                <a:r>
                  <a:rPr lang="zh-CN" altLang="zh-CN" sz="1900" dirty="0"/>
                  <a:t> 是否穿越禁飞区——判断"圆心到线段的距离 &lt; 半径"；</a:t>
                </a:r>
              </a:p>
              <a:p>
                <a:pPr lvl="0"/>
                <a:r>
                  <a:rPr lang="zh-CN" altLang="zh-CN" sz="1900" dirty="0"/>
                  <a:t>时间冲突检测：即使几何穿越，若无人机飞越该航段的时间不在管制时段内，依然合法——计算该机飞到此航段的时刻区间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1900"/>
                        </m:ctrlPr>
                      </m:dPr>
                      <m:e>
                        <m:sSub>
                          <m:sSubPr>
                            <m:ctrlPr>
                              <a:rPr lang="zh-CN" altLang="en-US" sz="1900"/>
                            </m:ctrlPr>
                          </m:sSubPr>
                          <m:e>
                            <m:r>
                              <a:rPr lang="zh-CN" altLang="en-US" sz="1900"/>
                              <m:t>𝑡</m:t>
                            </m:r>
                          </m:e>
                          <m:sub>
                            <m:r>
                              <a:rPr lang="en-US" altLang="zh-CN" sz="1900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900"/>
                            </m:ctrlPr>
                          </m:sSubPr>
                          <m:e>
                            <m:r>
                              <a:rPr lang="zh-CN" altLang="en-US" sz="1900"/>
                              <m:t>𝑡</m:t>
                            </m:r>
                          </m:e>
                          <m:sub>
                            <m:r>
                              <a:rPr lang="en-US" altLang="zh-CN" sz="1900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900" dirty="0"/>
                  <a:t> 与管制区间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sz="1900"/>
                        </m:ctrlPr>
                      </m:dPr>
                      <m:e>
                        <m:sSub>
                          <m:sSubPr>
                            <m:ctrlPr>
                              <a:rPr lang="zh-CN" altLang="en-US" sz="1900"/>
                            </m:ctrlPr>
                          </m:sSubPr>
                          <m:e>
                            <m:r>
                              <a:rPr lang="zh-CN" altLang="en-US" sz="1900"/>
                              <m:t>𝑡</m:t>
                            </m:r>
                          </m:e>
                          <m:sub>
                            <m:r>
                              <a:rPr lang="zh-CN" altLang="en-US" sz="1900"/>
                              <m:t>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900"/>
                            </m:ctrlPr>
                          </m:sSubPr>
                          <m:e>
                            <m:r>
                              <a:rPr lang="zh-CN" altLang="en-US" sz="1900"/>
                              <m:t>𝑡</m:t>
                            </m:r>
                          </m:e>
                          <m:sub>
                            <m:r>
                              <a:rPr lang="zh-CN" altLang="en-US" sz="1900"/>
                              <m:t>𝑒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900" dirty="0"/>
                  <a:t> 是否相交；</a:t>
                </a:r>
              </a:p>
              <a:p>
                <a:pPr lvl="0"/>
                <a:r>
                  <a:rPr lang="zh-CN" altLang="zh-CN" sz="1900" dirty="0"/>
                  <a:t>冲突处理（按优先级推荐）：</a:t>
                </a:r>
              </a:p>
              <a:p>
                <a:pPr lvl="1"/>
                <a:r>
                  <a:rPr lang="zh-CN" altLang="zh-CN" sz="1900" dirty="0"/>
                  <a:t>① 调整访问顺序：把该点提前/延后访问，错开管制时段（首选，代价最小）；</a:t>
                </a:r>
              </a:p>
              <a:p>
                <a:pPr lvl="1"/>
                <a:r>
                  <a:rPr lang="zh-CN" altLang="zh-CN" sz="1900" dirty="0"/>
                  <a:t>② 绕行：走圆的切线 + 劣弧绕过禁飞区（绕行长度 = 切线长 + 弧长，有标准几何公式）</a:t>
                </a:r>
                <a:r>
                  <a:rPr lang="zh-CN" altLang="en-US" sz="1900" dirty="0"/>
                  <a:t>（待优化）</a:t>
                </a:r>
                <a:r>
                  <a:rPr lang="zh-CN" altLang="zh-CN" sz="1900" dirty="0"/>
                  <a:t>；</a:t>
                </a:r>
              </a:p>
              <a:p>
                <a:pPr lvl="1"/>
                <a:r>
                  <a:rPr lang="zh-CN" altLang="zh-CN" sz="1900" dirty="0"/>
                  <a:t>③ 等待：若管制临近结束，在圆外悬停等待至解除再飞（时间窗短时更划算）。</a:t>
                </a:r>
                <a:endParaRPr lang="en-US" altLang="zh-CN" sz="1900" dirty="0"/>
              </a:p>
              <a:p>
                <a:pPr lvl="1"/>
                <a:r>
                  <a:rPr lang="zh-CN" altLang="en-US" sz="1900" dirty="0"/>
                  <a:t>注意：这三个方案依然依靠上述的遗传算法</a:t>
                </a:r>
                <a:endParaRPr lang="zh-CN" altLang="zh-CN" sz="1900" dirty="0"/>
              </a:p>
              <a:p>
                <a:r>
                  <a:rPr lang="zh-CN" altLang="zh-CN" sz="1900" b="1" dirty="0"/>
                  <a:t>求解要点</a:t>
                </a:r>
                <a:r>
                  <a:rPr lang="zh-CN" altLang="zh-CN" sz="1900" dirty="0"/>
                  <a:t>：</a:t>
                </a:r>
              </a:p>
              <a:p>
                <a:pPr lvl="0"/>
                <a:r>
                  <a:rPr lang="zh-CN" altLang="zh-CN" sz="1900" dirty="0"/>
                  <a:t>在问题 2 的算法框架上加一层"评估器"：按时间顺序滚动计算每架机路径，遇到冲突航段自动选择最优处理方式（调整/绕行/等待），然后重新计算后续到达时间（可能连锁影响后续航段的冲突状态，需要迭代校验）；</a:t>
                </a:r>
              </a:p>
              <a:p>
                <a:pPr lvl="0"/>
                <a:r>
                  <a:rPr lang="zh-CN" altLang="zh-CN" sz="1900" dirty="0"/>
                  <a:t>禁飞区多分布在远区（如 Case1 的 Z1、Z2），重点检查跑远点的那架机；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CA99FD-42C8-5D31-E88B-047EBC54F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1722"/>
                <a:ext cx="10515600" cy="4825241"/>
              </a:xfrm>
              <a:blipFill>
                <a:blip r:embed="rId2"/>
                <a:stretch>
                  <a:fillRect l="-406" t="-1770" r="-232" b="-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83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1269</Words>
  <Application>Microsoft Office PowerPoint</Application>
  <PresentationFormat>宽屏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Pb1：最少架数 + 最短总完成时间 </vt:lpstr>
      <vt:lpstr>PowerPoint 演示文稿</vt:lpstr>
      <vt:lpstr>Pb2：</vt:lpstr>
      <vt:lpstr>Pb3：动态禁飞区下的路径规划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于</dc:creator>
  <cp:lastModifiedBy>晨 于</cp:lastModifiedBy>
  <cp:revision>1</cp:revision>
  <dcterms:created xsi:type="dcterms:W3CDTF">2026-08-16T11:54:10Z</dcterms:created>
  <dcterms:modified xsi:type="dcterms:W3CDTF">2026-08-16T12:53:06Z</dcterms:modified>
</cp:coreProperties>
</file>